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c6ba7b7df04dc4" /><Relationship Type="http://schemas.openxmlformats.org/officeDocument/2006/relationships/extended-properties" Target="/docProps/app.xml" Id="R63d3410650394585" /><Relationship Type="http://schemas.openxmlformats.org/officeDocument/2006/relationships/officeDocument" Target="/ppt/presentation.xml" Id="R20d7bb11e82046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cfc31de6224a5e"/>
  </p:sldMasterIdLst>
  <p:notesMasterIdLst>
    <p:notesMasterId xmlns:r="http://schemas.openxmlformats.org/officeDocument/2006/relationships" r:id="R59e72ab7e22d468b"/>
  </p:notesMasterIdLst>
  <p:sldIdLst>
    <p:sldId xmlns:r="http://schemas.openxmlformats.org/officeDocument/2006/relationships" id="256" r:id="R9ce49b8260b84b68"/>
    <p:sldId xmlns:r="http://schemas.openxmlformats.org/officeDocument/2006/relationships" id="257" r:id="Rbf12e0426ed8433b"/>
    <p:sldId xmlns:r="http://schemas.openxmlformats.org/officeDocument/2006/relationships" id="258" r:id="R27bf7296048648ce"/>
    <p:sldId xmlns:r="http://schemas.openxmlformats.org/officeDocument/2006/relationships" id="259" r:id="R0555517a0e9e47ca"/>
    <p:sldId xmlns:r="http://schemas.openxmlformats.org/officeDocument/2006/relationships" id="260" r:id="R6c44e588a2c447a4"/>
    <p:sldId xmlns:r="http://schemas.openxmlformats.org/officeDocument/2006/relationships" id="261" r:id="R45d0880e80e1476d"/>
    <p:sldId xmlns:r="http://schemas.openxmlformats.org/officeDocument/2006/relationships" id="262" r:id="R51ded1abac204c17"/>
    <p:sldId xmlns:r="http://schemas.openxmlformats.org/officeDocument/2006/relationships" id="263" r:id="Rb8cf137b15ed4a0b"/>
    <p:sldId xmlns:r="http://schemas.openxmlformats.org/officeDocument/2006/relationships" id="264" r:id="R8bd0f0b18bd34622"/>
    <p:sldId xmlns:r="http://schemas.openxmlformats.org/officeDocument/2006/relationships" id="265" r:id="R724783488fbc4356"/>
    <p:sldId xmlns:r="http://schemas.openxmlformats.org/officeDocument/2006/relationships" id="266" r:id="Rc06d65e1511f488c"/>
    <p:sldId xmlns:r="http://schemas.openxmlformats.org/officeDocument/2006/relationships" id="267" r:id="R6e528b73737e4d9c"/>
    <p:sldId xmlns:r="http://schemas.openxmlformats.org/officeDocument/2006/relationships" id="268" r:id="Rea451698645640a9"/>
    <p:sldId xmlns:r="http://schemas.openxmlformats.org/officeDocument/2006/relationships" id="269" r:id="Rfb894ff5fe4249b0"/>
    <p:sldId xmlns:r="http://schemas.openxmlformats.org/officeDocument/2006/relationships" id="270" r:id="R227c9e167b954213"/>
    <p:sldId xmlns:r="http://schemas.openxmlformats.org/officeDocument/2006/relationships" id="271" r:id="Ra4ccbc21628c40d9"/>
    <p:sldId xmlns:r="http://schemas.openxmlformats.org/officeDocument/2006/relationships" id="272" r:id="R7b4040e3eb9245cb"/>
    <p:sldId xmlns:r="http://schemas.openxmlformats.org/officeDocument/2006/relationships" id="273" r:id="Rce8539b35ece4058"/>
    <p:sldId xmlns:r="http://schemas.openxmlformats.org/officeDocument/2006/relationships" id="274" r:id="R645802d49ee34e24"/>
    <p:sldId xmlns:r="http://schemas.openxmlformats.org/officeDocument/2006/relationships" id="275" r:id="Rd133b10ae7e341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d3fdd30b4a45ab" /><Relationship Type="http://schemas.openxmlformats.org/officeDocument/2006/relationships/slideMaster" Target="/ppt/slideMasters/slideMaster1.xml" Id="R8dcfc31de6224a5e" /><Relationship Type="http://schemas.openxmlformats.org/officeDocument/2006/relationships/notesMaster" Target="/ppt/notesMasters/notesMaster1.xml" Id="R59e72ab7e22d468b" /><Relationship Type="http://schemas.openxmlformats.org/officeDocument/2006/relationships/presProps" Target="/ppt/presProps.xml" Id="R4fdf199ea4404d37" /><Relationship Type="http://schemas.openxmlformats.org/officeDocument/2006/relationships/tableStyles" Target="/ppt/tableStyles.xml" Id="R09683e0f01c24f39" /><Relationship Type="http://schemas.openxmlformats.org/officeDocument/2006/relationships/slide" Target="/ppt/slides/slide1.xml" Id="R9ce49b8260b84b68" /><Relationship Type="http://schemas.openxmlformats.org/officeDocument/2006/relationships/slide" Target="/ppt/slides/slide2.xml" Id="Rbf12e0426ed8433b" /><Relationship Type="http://schemas.openxmlformats.org/officeDocument/2006/relationships/slide" Target="/ppt/slides/slide3.xml" Id="R27bf7296048648ce" /><Relationship Type="http://schemas.openxmlformats.org/officeDocument/2006/relationships/slide" Target="/ppt/slides/slide4.xml" Id="R0555517a0e9e47ca" /><Relationship Type="http://schemas.openxmlformats.org/officeDocument/2006/relationships/slide" Target="/ppt/slides/slide5.xml" Id="R6c44e588a2c447a4" /><Relationship Type="http://schemas.openxmlformats.org/officeDocument/2006/relationships/slide" Target="/ppt/slides/slide6.xml" Id="R45d0880e80e1476d" /><Relationship Type="http://schemas.openxmlformats.org/officeDocument/2006/relationships/slide" Target="/ppt/slides/slide7.xml" Id="R51ded1abac204c17" /><Relationship Type="http://schemas.openxmlformats.org/officeDocument/2006/relationships/slide" Target="/ppt/slides/slide8.xml" Id="Rb8cf137b15ed4a0b" /><Relationship Type="http://schemas.openxmlformats.org/officeDocument/2006/relationships/slide" Target="/ppt/slides/slide9.xml" Id="R8bd0f0b18bd34622" /><Relationship Type="http://schemas.openxmlformats.org/officeDocument/2006/relationships/slide" Target="/ppt/slides/slide10.xml" Id="R724783488fbc4356" /><Relationship Type="http://schemas.openxmlformats.org/officeDocument/2006/relationships/slide" Target="/ppt/slides/slide11.xml" Id="Rc06d65e1511f488c" /><Relationship Type="http://schemas.openxmlformats.org/officeDocument/2006/relationships/slide" Target="/ppt/slides/slide12.xml" Id="R6e528b73737e4d9c" /><Relationship Type="http://schemas.openxmlformats.org/officeDocument/2006/relationships/slide" Target="/ppt/slides/slide13.xml" Id="Rea451698645640a9" /><Relationship Type="http://schemas.openxmlformats.org/officeDocument/2006/relationships/slide" Target="/ppt/slides/slide14.xml" Id="Rfb894ff5fe4249b0" /><Relationship Type="http://schemas.openxmlformats.org/officeDocument/2006/relationships/slide" Target="/ppt/slides/slide15.xml" Id="R227c9e167b954213" /><Relationship Type="http://schemas.openxmlformats.org/officeDocument/2006/relationships/slide" Target="/ppt/slides/slide16.xml" Id="Ra4ccbc21628c40d9" /><Relationship Type="http://schemas.openxmlformats.org/officeDocument/2006/relationships/slide" Target="/ppt/slides/slide17.xml" Id="R7b4040e3eb9245cb" /><Relationship Type="http://schemas.openxmlformats.org/officeDocument/2006/relationships/slide" Target="/ppt/slides/slide18.xml" Id="Rce8539b35ece4058" /><Relationship Type="http://schemas.openxmlformats.org/officeDocument/2006/relationships/slide" Target="/ppt/slides/slide19.xml" Id="R645802d49ee34e24" /><Relationship Type="http://schemas.openxmlformats.org/officeDocument/2006/relationships/slide" Target="/ppt/slides/slide20.xml" Id="Rd133b10ae7e341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68e3ae1e8f46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e2e37219e54b43" /><Relationship Type="http://schemas.openxmlformats.org/officeDocument/2006/relationships/notesMaster" Target="/ppt/notesMasters/notesMaster1.xml" Id="R406bf95859054a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0b3735ad8b448e" /><Relationship Type="http://schemas.openxmlformats.org/officeDocument/2006/relationships/notesMaster" Target="/ppt/notesMasters/notesMaster1.xml" Id="Rd0e5f0b134a144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918cbb97ea4568" /><Relationship Type="http://schemas.openxmlformats.org/officeDocument/2006/relationships/notesMaster" Target="/ppt/notesMasters/notesMaster1.xml" Id="R12286d03d4b847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f770b245a149aa" /><Relationship Type="http://schemas.openxmlformats.org/officeDocument/2006/relationships/notesMaster" Target="/ppt/notesMasters/notesMaster1.xml" Id="R2cf2ceb4c03049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2e54dd6264469b" /><Relationship Type="http://schemas.openxmlformats.org/officeDocument/2006/relationships/notesMaster" Target="/ppt/notesMasters/notesMaster1.xml" Id="Rd4833d9214414a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7c04cc545c4ac1" /><Relationship Type="http://schemas.openxmlformats.org/officeDocument/2006/relationships/notesMaster" Target="/ppt/notesMasters/notesMaster1.xml" Id="R52a7bc5b6ba448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168b53bed94d7c" /><Relationship Type="http://schemas.openxmlformats.org/officeDocument/2006/relationships/notesMaster" Target="/ppt/notesMasters/notesMaster1.xml" Id="R7d7cdd2262c24b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0d928203d841d5" /><Relationship Type="http://schemas.openxmlformats.org/officeDocument/2006/relationships/notesMaster" Target="/ppt/notesMasters/notesMaster1.xml" Id="R62a31ef64d8e48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133b607b05d4fd2" /><Relationship Type="http://schemas.openxmlformats.org/officeDocument/2006/relationships/notesMaster" Target="/ppt/notesMasters/notesMaster1.xml" Id="Rec6b3503ea004c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61d49fd74747ba" /><Relationship Type="http://schemas.openxmlformats.org/officeDocument/2006/relationships/notesMaster" Target="/ppt/notesMasters/notesMaster1.xml" Id="Rfc9d7d131f6944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341bfd1a57436a" /><Relationship Type="http://schemas.openxmlformats.org/officeDocument/2006/relationships/notesMaster" Target="/ppt/notesMasters/notesMaster1.xml" Id="Rb60d2794e2244c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aac60bebef4ebe" /><Relationship Type="http://schemas.openxmlformats.org/officeDocument/2006/relationships/notesMaster" Target="/ppt/notesMasters/notesMaster1.xml" Id="R423ee4bb98194c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d6784c261a47f6" /><Relationship Type="http://schemas.openxmlformats.org/officeDocument/2006/relationships/notesMaster" Target="/ppt/notesMasters/notesMaster1.xml" Id="R36cd50353dd144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4f0315b2514148" /><Relationship Type="http://schemas.openxmlformats.org/officeDocument/2006/relationships/notesMaster" Target="/ppt/notesMasters/notesMaster1.xml" Id="R54d1ba4a49ee4c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97ce18319a412a" /><Relationship Type="http://schemas.openxmlformats.org/officeDocument/2006/relationships/notesMaster" Target="/ppt/notesMasters/notesMaster1.xml" Id="Rf7e5b9057f534ee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4d034c383b40b2" /><Relationship Type="http://schemas.openxmlformats.org/officeDocument/2006/relationships/notesMaster" Target="/ppt/notesMasters/notesMaster1.xml" Id="Raa66884a99a04fe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a0558664194286" /><Relationship Type="http://schemas.openxmlformats.org/officeDocument/2006/relationships/notesMaster" Target="/ppt/notesMasters/notesMaster1.xml" Id="R075af941386d42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fbbd8bdbf441ab" /><Relationship Type="http://schemas.openxmlformats.org/officeDocument/2006/relationships/notesMaster" Target="/ppt/notesMasters/notesMaster1.xml" Id="Rab641de321fd42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939554444fd4081" /><Relationship Type="http://schemas.openxmlformats.org/officeDocument/2006/relationships/notesMaster" Target="/ppt/notesMasters/notesMaster1.xml" Id="Rdd285662204242a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17549706def43f4" /><Relationship Type="http://schemas.openxmlformats.org/officeDocument/2006/relationships/notesMaster" Target="/ppt/notesMasters/notesMaster1.xml" Id="Rd69dffa0ba6a40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Founder: Sreejith Valiyapurayil. Strategy confirmed 1 October 2026. Planning proposal. Product imagery is conceptual.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thesis, not evidence of an operating product. No customer traction or revenue evidence was supplied.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Customer segment and pain points are hypotheses for discovery interviews and paid pilots.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User-confirmed phase order. Timing and gates are proposed planning assumptions, not commitments.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integrations only. Tool availability, PDK access and service-provider rights depend on vendor and foundry agreements.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“North Star” names the proposed target architecture. Start on one cloud; add the second after pilot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S1: Synopsys Cloud: licensing and managed EDA environments</a:t>
            </a:r>
          </a:p>
          <a:p xmlns:a="http://schemas.openxmlformats.org/drawingml/2006/main">
            <a:r>
              <a:t>https://www.synopsys.com/cloud.html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S2: Cadence: hybrid EDA workflow with NetApp on AWS</a:t>
            </a:r>
          </a:p>
          <a:p xmlns:a="http://schemas.openxmlformats.org/drawingml/2006/main">
            <a:r>
              <a:t>https://community.cadence.com/cadence_blogs_8/b/cloud/posts/build-a-cadence-burst-to-cloud-hybrid-eda-workflow-with-netapp-on-aws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Argo CD official documentation</a:t>
            </a:r>
          </a:p>
          <a:p xmlns:a="http://schemas.openxmlformats.org/drawingml/2006/main">
            <a:r>
              <a:t>https://argo-cd.readthedocs.io/en/stable/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S4: Grokstream / Droma official website</a:t>
            </a:r>
          </a:p>
          <a:p xmlns:a="http://schemas.openxmlformats.org/drawingml/2006/main">
            <a:r>
              <a:t>https://www.grokstream.com/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S5: Kubernetes official website</a:t>
            </a:r>
          </a:p>
          <a:p xmlns:a="http://schemas.openxmlformats.org/drawingml/2006/main">
            <a:r>
              <a:t>https://kubernetes.io/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End-to-end service automation is the goal. Signoff quality and silicon correctness remain engineering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Differentiation must be demonstrated in pilots. No exclusive partnerships or superiority claims assumed.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S1: Synopsys Cloud: licensing and managed EDA environments</a:t>
            </a:r>
          </a:p>
          <a:p xmlns:a="http://schemas.openxmlformats.org/drawingml/2006/main">
            <a:r>
              <a:t>https://www.synopsys.com/cloud.html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S2: Cadence: hybrid EDA workflow with NetApp on AWS</a:t>
            </a:r>
          </a:p>
          <a:p xmlns:a="http://schemas.openxmlformats.org/drawingml/2006/main">
            <a:r>
              <a:t>https://community.cadence.com/cadence_blogs_8/b/cloud/posts/build-a-cadence-burst-to-cloud-hybrid-eda-workflow-with-netapp-on-aws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8-person core team, including the founder. Hiring pace follows pilot demand and available capital.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schedule. Vendor access and customer onboarding may move pilot dates. No pilots are claimed as signed.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Targets are unvalidated. Measure infrastructure failures separately from design failures. End-to-end onboarding includes external approvals.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vendor resale rights assumed. Service revenue must stay distinct from third-party spend.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steady-state annual scenarios, not forecasts. Excludes onboarding, cloud/EDA pass-through, tax, financing and Phase 2/3.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model, not an approved fundraising ask. Monthly opex INR 22 lakh; 18 months; initial setup INR 25 lakh; contingency 20%. Gross no-revenue funding envelope = (22×18+25)×1.2 = INR 505.2 lakh. Excludes Phase 2 and 3 and customer cloud/EDA spend. Does not assume unverified cash or revenue.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Indicative months 18–36 after Phase 1 validation. No 2nm/3nm commitment or measured chip performance is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Indicative month 36+ after Phase 2 validation. India–UAE is an option for evaluation, not a secured site or government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Founder-provided background. Detailed roles, dates and achievements belong in the supporting data room.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Controls are proposed work items, not certified capabilities.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capital envelope: ₹5.05 crore before revenue offsets. Final raise and terms remain to be determined.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checked 1 October 2026. Vendor references describe their products and do not imply a partnership with InSilicon.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Planning basis: supplied Building-Indias-AI-Future-GPU-Manufacturing.pptx and founder-confirmed phase roadmap, 1 October 2026. Proposed capabilities and targets are not actual 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S1: https://www.synopsys.com/cloud.html</a:t>
            </a:r>
          </a:p>
          <a:p xmlns:a="http://schemas.openxmlformats.org/drawingml/2006/main">
            <a:r>
              <a:t>S2: https://community.cadence.com/cadence_blogs_8/b/cloud/posts/build-a-cadence-burst-to-cloud-hybrid-eda-workflow-with-netapp-on-aws</a:t>
            </a:r>
          </a:p>
          <a:p xmlns:a="http://schemas.openxmlformats.org/drawingml/2006/main">
            <a:r>
              <a:t>S3: https://argo-cd.readthedocs.io/en/stable/</a:t>
            </a:r>
          </a:p>
          <a:p xmlns:a="http://schemas.openxmlformats.org/drawingml/2006/main">
            <a:r>
              <a:t>S4: https://www.grokstream.com/</a:t>
            </a:r>
          </a:p>
          <a:p xmlns:a="http://schemas.openxmlformats.org/drawingml/2006/main">
            <a:r>
              <a:t>S5: https://kubernetes.io/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961e9233c144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fe7c7361354b57" /><Relationship Type="http://schemas.openxmlformats.org/officeDocument/2006/relationships/slideLayout" Target="/ppt/slideLayouts/slideLayout1.xml" Id="Radc0d51f121d41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c0d51f121d41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dd2b85dfd4054" /><Relationship Type="http://schemas.openxmlformats.org/officeDocument/2006/relationships/image" Target="/ppt/media/image.png" Id="Rf1d572d78c3d481d" /><Relationship Type="http://schemas.openxmlformats.org/officeDocument/2006/relationships/notesSlide" Target="/ppt/notesSlides/notesSlide1.xml" Id="R85c016a8536e4f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a1ea4bc9843a8" /><Relationship Type="http://schemas.openxmlformats.org/officeDocument/2006/relationships/notesSlide" Target="/ppt/notesSlides/notesSlide2.xml" Id="R880d394a113748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e5e60715540b5" /><Relationship Type="http://schemas.openxmlformats.org/officeDocument/2006/relationships/notesSlide" Target="/ppt/notesSlides/notesSlide3.xml" Id="R4a70e63ba0f54c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d3333983440f9" /><Relationship Type="http://schemas.openxmlformats.org/officeDocument/2006/relationships/notesSlide" Target="/ppt/notesSlides/notesSlide4.xml" Id="R8bd4e319d7514c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342cc8e664e81" /><Relationship Type="http://schemas.openxmlformats.org/officeDocument/2006/relationships/notesSlide" Target="/ppt/notesSlides/notesSlide5.xml" Id="R78e4807d957145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f17105e07436d" /><Relationship Type="http://schemas.openxmlformats.org/officeDocument/2006/relationships/notesSlide" Target="/ppt/notesSlides/notesSlide6.xml" Id="Rbab3a7db30824a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0221fe42b40a7" /><Relationship Type="http://schemas.openxmlformats.org/officeDocument/2006/relationships/notesSlide" Target="/ppt/notesSlides/notesSlide7.xml" Id="Rcd00287efb874f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9aeef7bb2488b" /><Relationship Type="http://schemas.openxmlformats.org/officeDocument/2006/relationships/notesSlide" Target="/ppt/notesSlides/notesSlide8.xml" Id="R74933c6f759d49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1f611c648483b" /><Relationship Type="http://schemas.openxmlformats.org/officeDocument/2006/relationships/notesSlide" Target="/ppt/notesSlides/notesSlide9.xml" Id="R605e74fea90a4d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0958daf614353" /><Relationship Type="http://schemas.openxmlformats.org/officeDocument/2006/relationships/notesSlide" Target="/ppt/notesSlides/notesSlide10.xml" Id="Rc88f8ba3111f48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9dfbf7e234d68" /><Relationship Type="http://schemas.openxmlformats.org/officeDocument/2006/relationships/notesSlide" Target="/ppt/notesSlides/notesSlide11.xml" Id="R0dac8c392c1241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d90b7ec454dac" /><Relationship Type="http://schemas.openxmlformats.org/officeDocument/2006/relationships/notesSlide" Target="/ppt/notesSlides/notesSlide12.xml" Id="R431ea0f2272341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30544e8a74621" /><Relationship Type="http://schemas.openxmlformats.org/officeDocument/2006/relationships/notesSlide" Target="/ppt/notesSlides/notesSlide13.xml" Id="R030ba55749524f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88c60a6d644fd" /><Relationship Type="http://schemas.openxmlformats.org/officeDocument/2006/relationships/notesSlide" Target="/ppt/notesSlides/notesSlide14.xml" Id="R4ace9036380340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3e7f2b1fe4eb7" /><Relationship Type="http://schemas.openxmlformats.org/officeDocument/2006/relationships/notesSlide" Target="/ppt/notesSlides/notesSlide15.xml" Id="R27eb2d931a12415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81d6c707346ac" /><Relationship Type="http://schemas.openxmlformats.org/officeDocument/2006/relationships/notesSlide" Target="/ppt/notesSlides/notesSlide16.xml" Id="Rd2f25b43e62f45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a335f7a934598" /><Relationship Type="http://schemas.openxmlformats.org/officeDocument/2006/relationships/notesSlide" Target="/ppt/notesSlides/notesSlide17.xml" Id="Re02cee19e8a2499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8731823464eec" /><Relationship Type="http://schemas.openxmlformats.org/officeDocument/2006/relationships/notesSlide" Target="/ppt/notesSlides/notesSlide18.xml" Id="R87e4a87c2f5f408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abb80955b4371" /><Relationship Type="http://schemas.openxmlformats.org/officeDocument/2006/relationships/notesSlide" Target="/ppt/notesSlides/notesSlide19.xml" Id="R2a007f6f51a146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3026b36664d0a" /><Relationship Type="http://schemas.openxmlformats.org/officeDocument/2006/relationships/notesSlide" Target="/ppt/notesSlides/notesSlide20.xml" Id="Rb12ecf3e7e5f4c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572d78c3d481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37D17-3622-4421-9757-FFEB0D03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2BA89-411C-44F9-AF15-FEDBDA5C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4575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Semiconductor ambition.</a:t>
            </a:r>
          </a:p>
          <a:p xmlns:a="http://schemas.openxmlformats.org/drawingml/2006/main">
            <a:pPr>
              <a:defRPr sz="4575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4575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Cloud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61036-3B54-48EC-8D73-50735A02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5524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A phased investment in design infrastructure, AI silicon IP and industrial capability.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5C69B-5123-4BFA-96BF-3F4337BC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Sreejith Valiyapurayil</a:t>
            </a:r>
          </a:p>
          <a:p xmlns:a="http://schemas.openxmlformats.org/drawingml/2006/main">
            <a:pPr>
              <a:defRPr sz="142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Investor proposal · October 2026</a:t>
            </a:r>
          </a:p>
        </p:txBody>
      </p:sp>
    </p:spTree>
    <p:extLst>
      <p:ext uri="{BB962C8B-B14F-4D97-AF65-F5344CB8AC3E}">
        <p14:creationId xmlns:p14="http://schemas.microsoft.com/office/powerpoint/2010/main" val="78419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FC09A-6C9A-4F8F-A9A7-75023034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0A4C8-1F6B-4A90-B9BA-4D8D0698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3B392-B25D-4502-927A-A4FE0697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A focused first 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9DFD2-9D23-45FE-A709-D2E5958D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Design-ready EDA infrastructure for semiconductor teams.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ED1D3-D0A2-476C-A471-AE4F0A8C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7437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InSilicon proposes to combine semiconductor workflow expertise with cloud engineering and automation. Phase 1 sells a managed environment that helps engineers begin and repeat design work with clear operational ownership.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E8D89-7920-462A-BD43-43422589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686175"/>
            <a:ext cx="3257550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Long-term ambition</a:t>
            </a:r>
          </a:p>
          <a:p xmlns:a="http://schemas.openxmlformats.org/drawingml/2006/main">
            <a:pPr>
              <a:defRPr sz="1950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AI silicon IP and industrial capability, funded through separate decision gates.</a:t>
            </a:r>
          </a:p>
        </p:txBody>
      </p:sp>
    </p:spTree>
    <p:extLst>
      <p:ext uri="{BB962C8B-B14F-4D97-AF65-F5344CB8AC3E}">
        <p14:creationId xmlns:p14="http://schemas.microsoft.com/office/powerpoint/2010/main" val="214222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37DAF-0EC1-413E-82A0-57091FF3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496C3-523D-4661-BBEA-ADE8419B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169CC-75B9-4485-B295-00018DB5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The first customer and 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D0F79-D9F1-488E-8B7E-CD773B5D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Customer segment and pain points are hypotheses for discovery interviews and paid pilots.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C4FBE-EE08-407D-BC8D-DBD54AB2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TARGET BUYER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A63E1-F687-4EAB-A90F-BE48E015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Fabless teams and design services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FB8F2-4790-46B4-9C36-DD9B3E89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333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India-first customer development, with UAE expansion as a commercial hypothesis. Buyer: engineering leader or CAD/IT owner.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6EFD7-F1E7-4D63-8FB4-09F1F654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812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PROBLEM TO VALIDATE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044BA-6A4D-422A-9090-C3E86EA5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432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Fragmented project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FEF42-5B35-421F-B496-3524CDC5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57625"/>
            <a:ext cx="3333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Tool versions, license access, compute, storage and security must work together before engineers can run a reliable 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D06A90-93C3-4BEC-A7DE-E0F4D994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812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PAID PILOT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F672B6-D163-45D2-B975-E79460A6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432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One workflow, measurable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AF415-75A7-4A11-966C-381467FE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57625"/>
            <a:ext cx="3333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Agree a reference design and acceptance test. Measure setup time, job completion, cost per run and engineering support effort.</a:t>
            </a:r>
          </a:p>
        </p:txBody>
      </p:sp>
    </p:spTree>
    <p:extLst>
      <p:ext uri="{BB962C8B-B14F-4D97-AF65-F5344CB8AC3E}">
        <p14:creationId xmlns:p14="http://schemas.microsoft.com/office/powerpoint/2010/main" val="6725466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6A0467-DC4B-4FB0-B3F1-1B861A51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AFF9A-D7BA-4DB8-8F7F-E8D822ED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A0152-0168-4AA8-A96B-AF12AA7E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Three phases, three investment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6E73D-6D36-4973-A962-FD4EBD6C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23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5025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06D7E-51D1-43A5-958E-6115EE4C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Design infrastructure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54B7A-D4ED-4882-B3D7-F532AFE0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33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Proposed months 0–18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0C05C-6AE6-448F-A5E8-6FC4263A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Automated, licensed EDA environments on AWS or GCP, delivered by a specialist developer team.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D5C32-FC32-48CE-AA4C-120E5723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09775"/>
            <a:ext cx="323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5025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D74A13-09F7-45B2-BB2E-82B69612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19425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Silicon 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DCBE0-12EB-4508-AFAD-03E676C0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05250"/>
            <a:ext cx="333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Indicative months 18–36, after Gate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ABD4E-92B8-4B2E-B575-88667B88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482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A focused AI accelerator or chiplet, developed through a customer-backed fabless program.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975D6-2D87-4446-B43C-6DC447CF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09775"/>
            <a:ext cx="323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5025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68C4D-F931-4BA6-9B72-2AC590D9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19425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Industrial expansion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BB7EA-2F4E-4586-B8C4-720A6D45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3333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Indicative month 36+, after Gate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9F15E-160B-4CEB-86DB-94E22A07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482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Packaging, test and campus expansion. Fabrication requires separate feasibility and financing.</a:t>
            </a:r>
          </a:p>
        </p:txBody>
      </p:sp>
    </p:spTree>
    <p:extLst>
      <p:ext uri="{BB962C8B-B14F-4D97-AF65-F5344CB8AC3E}">
        <p14:creationId xmlns:p14="http://schemas.microsoft.com/office/powerpoint/2010/main" val="606454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107FA4-DE20-4F46-BA1B-188595DC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34311-3798-4FE6-8E9B-8CF4CD8C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C74C3-F4C5-4267-B1FD-7F3B0E0F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Phase 1: a managed EDA environment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082D9-CC88-43B4-B8CE-14530C88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Target integrations only. Tool availability, PDK access and service-provider rights depend on vendor and foundry agreements.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4D685-28CF-4BD2-9A7C-3ED37BB3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A09A2-70E9-4EE6-92FC-E9D18CDE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A qualified tool catalog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0D879-6771-411A-B15D-696A8373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333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Cadence and Synopsys workflows, selected by customer need. Validate each tool version, OS, license mode and PDK combination.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444D6-ABB0-44D4-A411-7B944BB7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812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OPERATE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BD011-E2AD-49B3-A6B4-F96A5276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432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Repeatable 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4275D4-BA3C-43CE-9775-302B415B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57625"/>
            <a:ext cx="3333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Provision isolated environments. Queue jobs with license awareness. Capture logs, artifacts and metered project usage.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ABC7B-C389-4B76-B50F-A860D8D3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812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DELIVER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EA0FF-012C-431E-BC0D-F3A1FF62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432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An accountable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4FD6B-AE62-410C-A5DD-36F64A4B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57625"/>
            <a:ext cx="3333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Provide onboarding, access controls, recovery procedures and support. Publish a service catalog with clear scope and exclusions.</a:t>
            </a:r>
          </a:p>
        </p:txBody>
      </p:sp>
    </p:spTree>
    <p:extLst>
      <p:ext uri="{BB962C8B-B14F-4D97-AF65-F5344CB8AC3E}">
        <p14:creationId xmlns:p14="http://schemas.microsoft.com/office/powerpoint/2010/main" val="31618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F2528-C021-4FDC-8068-B944EA6F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BF223-2D38-402A-BE9C-706034BC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36D402-D062-416D-8055-555D34A9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42321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142321"/>
                </a:solidFill>
                <a:latin typeface="DejaVu Sans"/>
                <a:ea typeface="DejaVu Sans"/>
                <a:cs typeface="DejaVu Sans"/>
              </a:rPr>
              <a:t>North Star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07253-EC73-4148-A884-3739004F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“North Star” names the proposed target architecture. Start on one cloud; add the second after pilot validation.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781925"/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Proposed responsibility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Developer experience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Portal, project templates, access requests and run status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Control plane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Kubernetes for platform services; Argo CD for reviewed GitOps deployments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EDA execution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Validated VM/HPC or container workers; scheduler separate from Argo CD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Cloud foundation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AWS or GCP landing zone, private networking, storage and infrastructure as code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Operations and governance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License telemetry, cost budgets, audit logs and optional Grokstream/Droma AIOps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2411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240CB1-05B2-46EB-9DBB-AA5BBB32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4F967-3F4D-4DDE-A3D4-8B43DFCC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AEB38-36CA-438B-833A-9F7F5437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Automation with engineering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0C6C3-D9AE-4FE6-831B-CB876084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End-to-end service automation is the goal. Signoff quality and silicon correctness remain engineering responsibilities.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E3325-61B8-4D14-903A-37C32FE0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515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Automate the environment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37908-D64A-4162-A5C6-CFD3EF08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24075"/>
            <a:ext cx="5038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Keep accountable decisions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E0130-E3B4-4D8E-8766-866C8509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Template selection and entitlement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E8749-0FB9-415D-816C-A0D92125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Infrastructure provisioning and configuration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9C3B2-C660-4B27-BCDD-60702F37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Job submission, monitoring and artifact 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875D1-1AF5-41C3-99E0-BBA658D5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Budget alerts and approved recovery runbooks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38CFF-D699-4FD5-A3AF-F809DF9F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9560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EDA/PDK permissions before provisioning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F50A2-9CD5-4932-9FB8-1255FCB7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7665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Engineering review of design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AD43C9-1F55-4AE4-B001-9050226E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45770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Human signoff for tapeout and production 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541BD-833B-4E7A-816E-E3AEC64D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23875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Customer control over IP and AI data use</a:t>
            </a:r>
          </a:p>
        </p:txBody>
      </p:sp>
    </p:spTree>
    <p:extLst>
      <p:ext uri="{BB962C8B-B14F-4D97-AF65-F5344CB8AC3E}">
        <p14:creationId xmlns:p14="http://schemas.microsoft.com/office/powerpoint/2010/main" val="4974044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489A9-0BF9-4DBA-8686-7E4D537D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77877-CA48-457F-90CB-6F87BDDA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92FFE-160B-4784-B6EC-9C8FADCF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42321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142321"/>
                </a:solidFill>
                <a:latin typeface="DejaVu Sans"/>
                <a:ea typeface="DejaVu Sans"/>
                <a:cs typeface="DejaVu Sans"/>
              </a:rPr>
              <a:t>A credible place in the EDA ecosystem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850C4-4430-450A-83B7-48D0538A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Differentiation must be demonstrated in pilots. No exclusive partnerships or superiority claims assumed.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810000"/>
                <a:gridCol w="4400550"/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Alternative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Existing value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InSilicon hypothesis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EDA vendor clouds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Native tools, licensing and managed environments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Integrate customer workflows across permitted tools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Cloud infrastructure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Compute, storage and cloud services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 EDA environment setup and day-to-day operations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Internal CAD/IT team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Customer-specific workflows and control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Extend capacity with repeatable templates and support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Design service firms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Design execution and engineering expertise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Partner on infrastructure while defining IP boundaries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8718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600EB-3994-4F6B-AAD3-0F1B7BD0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01578-285B-42FC-B63B-F4ECAB11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F7EF9-3AA4-4A67-8321-D5075C32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A first team built around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C862F-78E8-4517-8F4D-31E31592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Proposed 8-person core team, including the founder. Hiring pace follows pilot demand and available capital.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5B7C1-F5DD-43B5-900E-74186634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PRODUCT AND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3E099-81E6-4539-8D99-3E03358B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4 core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53CFE-0EA5-4635-A55F-57320C60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333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Founder / product architect</a:t>
            </a:r>
          </a:p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2 platform and cloud engineers</a:t>
            </a:r>
          </a:p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1 backend / portal engineer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5BB11-520A-41B1-9380-A28FEA62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812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EDA AND 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6D6C83-49A6-47DE-B255-24131622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432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3 core roles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D5172-E956-4874-BC03-C45D260E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57625"/>
            <a:ext cx="3333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2 EDA flow engineers</a:t>
            </a:r>
          </a:p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1 SRE / security engineer</a:t>
            </a:r>
          </a:p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Specialist review where 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D2214-18B2-4C7A-9BF2-5FBCD491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812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CUSTOMER DELIVERY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4E7D5-175B-4EB6-A191-708C18E0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432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1 core 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96E8C-5282-45D9-93BE-88CEB640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57625"/>
            <a:ext cx="3333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1 solutions / customer engineer</a:t>
            </a:r>
          </a:p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Founder-led sales initially</a:t>
            </a:r>
          </a:p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External licensing and legal support</a:t>
            </a:r>
          </a:p>
        </p:txBody>
      </p:sp>
    </p:spTree>
    <p:extLst>
      <p:ext uri="{BB962C8B-B14F-4D97-AF65-F5344CB8AC3E}">
        <p14:creationId xmlns:p14="http://schemas.microsoft.com/office/powerpoint/2010/main" val="11237141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0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96909-9B23-47A3-BD49-345CDE13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13CEB-7565-4AC5-8282-86B8DA92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14379-7DEE-4CA0-84BC-7E455200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42321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142321"/>
                </a:solidFill>
                <a:latin typeface="DejaVu Sans"/>
                <a:ea typeface="DejaVu Sans"/>
                <a:cs typeface="DejaVu Sans"/>
              </a:rPr>
              <a:t>The first 90 days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8FA03-B30A-410E-B493-75CC8FA4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Proposed schedule. Vendor access and customer onboarding may move pilot dates. No pilots are claimed as signed.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810000"/>
                <a:gridCol w="4400550"/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Window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Accountable lead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Exit evidence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Days 1–30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Founder + EDA lead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 interviews, reference workflow, license route and cloud choice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Days 31–60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 lead + SRE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Isolated landing zone, versioned template and repeatable reference run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Days 61–90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Solutions + EDA lead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Target 3 paid pilots; measured baseline, support cost and acceptance report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5466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0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2F642-764F-4484-A37E-0B2A3F88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26BE9-5DD2-4AFD-975C-2E3A0166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AA9CA-630D-419C-8D25-62DCC927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42321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142321"/>
                </a:solidFill>
                <a:latin typeface="DejaVu Sans"/>
                <a:ea typeface="DejaVu Sans"/>
                <a:cs typeface="DejaVu Sans"/>
              </a:rPr>
              <a:t>Pilot acceptance and operating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781E9-F7A1-492E-8881-385754D8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Targets are unvalidated. Measure infrastructure failures separately from design failures. End-to-end onboarding includes external approvals.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781925"/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Proposed target or evidence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Environment provisioning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≤ 4 hours after approvals, entitlement and image readiness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Reference-run reliability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≥ 95% successful infrastructure runs over at least 20 reruns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Security and recovery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Isolation and restore tests passed; no unresolved critical findings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Unit economics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≥ 60% service gross margin target; cloud/EDA charges tracked separately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Customer validation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 paid pilot acceptances; renewal decision and documented feedback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24483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0BAE6-213D-44CF-A31C-133ED930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2088E-0950-4877-80AE-CEB1B2A6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70D6F-60CE-4C5A-AB7E-FDB781AE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Revenue starts with the managed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314F6-8DD3-45CD-ABC0-14A695F4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No vendor resale rights assumed. Service revenue must stay distinct from third-party spend.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91063-E290-4E9B-92F5-F49FDECE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515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Phase 1 commercial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56E50-8236-4840-BC4C-32EA3F52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24075"/>
            <a:ext cx="5038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Expansion 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AB10A-BE89-4E5E-B53D-25D9FB5A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One-time onboarding and workflow integration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D79C3-9523-4786-B0C3-EAD4350B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Recurring platform and operations subscription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F8D9A8-983E-46AA-B064-4F14673B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Clearly scoped support and engineering services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55938-66B6-470D-A56F-C77EC784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Customer-paid cloud and EDA, or separately disclosed pass-through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9EC7F-8AD9-4DA3-B5A6-0FC6D16C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9560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Phase 2: funded development / NRE milestones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43F50-D89C-4F6A-814B-27A8DEFB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7665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IP licenses or royalties under negotiated contracts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AE54B-EBBC-487E-A309-F53A8E2E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45770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Phase 3: packaging and test service economics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ECBA2-65D9-408D-B9C2-335E7CAE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23875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Separate funding case for owned facilities</a:t>
            </a:r>
          </a:p>
        </p:txBody>
      </p:sp>
    </p:spTree>
    <p:extLst>
      <p:ext uri="{BB962C8B-B14F-4D97-AF65-F5344CB8AC3E}">
        <p14:creationId xmlns:p14="http://schemas.microsoft.com/office/powerpoint/2010/main" val="765202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0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2854E-2567-440A-A3B0-120E5234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AD13B-0292-4101-A420-68D6481B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7DA31-FDAB-4992-9C4F-92F2CC30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42321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142321"/>
                </a:solidFill>
                <a:latin typeface="DejaVu Sans"/>
                <a:ea typeface="DejaVu Sans"/>
                <a:cs typeface="DejaVu Sans"/>
              </a:rPr>
              <a:t>Recurring economics: three scenarios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D23FE-E319-4FF4-8EB9-683A8859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Illustrative steady-state annual scenarios, not forecasts. Excludes onboarding, cloud/EDA pass-through, tax, financing and Phase 2/3.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222A6-323E-4450-8FEA-F179C646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INR lakh per year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2228850"/>
                <a:gridCol w="2228850"/>
                <a:gridCol w="2228850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Recurring model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Cautious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Expansion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Paying customers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Service revenue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90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240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450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Gross profit at 70%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63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168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315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 operating cost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264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264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264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Operating result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−201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−96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+51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C40E7-5AE9-432D-B31F-9FFF2826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Assumptions: ₹2.5 lakh / customer / month. Fixed opex ₹22 lakh / month. Break-even: 13 customers.</a:t>
            </a:r>
          </a:p>
        </p:txBody>
      </p:sp>
    </p:spTree>
    <p:extLst>
      <p:ext uri="{BB962C8B-B14F-4D97-AF65-F5344CB8AC3E}">
        <p14:creationId xmlns:p14="http://schemas.microsoft.com/office/powerpoint/2010/main" val="7548143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30CA3-1D7F-4223-B213-E31BE4CC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BD3D07-5DCB-4E2A-B1AF-41C28EBF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150EE-CFF4-4139-A75B-9BC4A64F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Phase 1 capital tied to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99A50-3143-42A4-97BD-8B73C606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7500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₹5.05 crore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C78C2-9762-4D87-9EF5-51EC9583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Illustrative 18-month gross funding envelope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16E1C-11A5-403B-A1EA-E72A1CCE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₹3.96 crore</a:t>
            </a:r>
          </a:p>
          <a:p xmlns:a="http://schemas.openxmlformats.org/drawingml/2006/main">
            <a:pPr>
              <a:defRPr sz="2100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18 months of operating cost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1CBD9-EDEB-48E5-B90F-E8A676CA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₹0.25 crore</a:t>
            </a:r>
          </a:p>
          <a:p xmlns:a="http://schemas.openxmlformats.org/drawingml/2006/main">
            <a:pPr>
              <a:defRPr sz="2100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Initial setup assumption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20FF6-ABD2-4A7A-8787-32105441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3624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₹0.84 crore</a:t>
            </a:r>
          </a:p>
          <a:p xmlns:a="http://schemas.openxmlformats.org/drawingml/2006/main">
            <a:pPr>
              <a:defRPr sz="2100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20% contingency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FD5D6-301E-492D-A606-A962D235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No-revenue case. Final raise follows vendor quotes, hiring budget and pilot cash-flow evidence. Phase 2/3 excluded.</a:t>
            </a:r>
          </a:p>
        </p:txBody>
      </p:sp>
    </p:spTree>
    <p:extLst>
      <p:ext uri="{BB962C8B-B14F-4D97-AF65-F5344CB8AC3E}">
        <p14:creationId xmlns:p14="http://schemas.microsoft.com/office/powerpoint/2010/main" val="2877366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BEF26-AE1A-4728-83B2-F19105BD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5FD7C-CFB2-49F0-B6F0-10A72EA7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CF7CE-C43F-40EA-8EB4-89BDB057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Phase 2: customer-led silicon 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8F3CC-7044-4A9F-8D19-5E3595F3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Indicative months 18–36 after Phase 1 validation. No 2nm/3nm commitment or measured chip performance is claimed.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23BA3-6DA2-454F-B827-3AC55985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515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Technical program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D0757-2EEC-4601-9122-371C39D6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24075"/>
            <a:ext cx="5038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Gate before tapeout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A77AD-7658-4EC5-9BED-CE89CC5C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Choose one AI workload and benchmark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396C2-0CDE-4E8B-A9A6-A14B2FD8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Evaluate accelerator, GPU or chiplet 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9F119-0438-46F7-8E7E-487AECB4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Build verification and software enablement plans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16E99-394C-4E74-91C9-D925A1C0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Select process node from cost and performance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61B13-E500-41E5-9DD1-F502B382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9560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Customer-backed specification and commercial interest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6CA43E-6FE0-4B5F-AE12-F2774106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7665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Experienced silicon and verification leadership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5C3E8-C26E-447B-9582-E17D6280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45770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Foundry/PDK access and clear IP ownership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46BEF-29AA-4EB1-8AD9-BCB83CD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23875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Separately financed prototype and re-spin reserve</a:t>
            </a:r>
          </a:p>
        </p:txBody>
      </p:sp>
    </p:spTree>
    <p:extLst>
      <p:ext uri="{BB962C8B-B14F-4D97-AF65-F5344CB8AC3E}">
        <p14:creationId xmlns:p14="http://schemas.microsoft.com/office/powerpoint/2010/main" val="17891954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F8DBC-9566-428E-8C59-40FD94AF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32F7E-EFB7-463D-8518-1B275BF9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426D2-1100-43F3-A021-6F707A79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Phase 3: industrial capability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6328A-D8EE-4876-892B-F12CF3B0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Indicative month 36+ after Phase 2 validation. India–UAE is an option for evaluation, not a secured site or government commitment.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A0647-3368-44F3-82EA-80E4F852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5153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Initial expansion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80800-A83C-4A0C-B3A7-B878B02C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24075"/>
            <a:ext cx="5038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Fabrication investment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124AE-22E7-4204-8F1C-A92344D2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Partner-led packaging and test qualification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405EE-6D96-47C0-A873-A92BBA00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Product-specific yield and reliability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6A5D8-70F3-4A15-8D1C-9AE180CE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Campus feasibility covering utilities and talent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163B8-6F06-46CC-9972-3DF92A68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5010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Site choice based on demand and partner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D07522-FF28-4690-A836-0237F49D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9560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Qualified technology and manufacturing partners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99D70-0AFE-4EBE-90A6-412B67D5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7665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Credible demand and customer offtake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7F2A2-11CB-40A3-9E1C-19A06EA2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45770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Independent capex, yield and operating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5B7CC-C96D-438A-8B58-074FFBA6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238750"/>
            <a:ext cx="5038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Dedicated financing and feasibility approval</a:t>
            </a:r>
          </a:p>
        </p:txBody>
      </p:sp>
    </p:spTree>
    <p:extLst>
      <p:ext uri="{BB962C8B-B14F-4D97-AF65-F5344CB8AC3E}">
        <p14:creationId xmlns:p14="http://schemas.microsoft.com/office/powerpoint/2010/main" val="19905713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48763-748F-409C-94C1-97799485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B34C3-81EC-44F6-86FD-C1BF3751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EC92F-DC33-46EA-868D-DB7A167D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Founder-market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D922D-4170-44F5-AE95-24ED7365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Founder-provided background. Detailed roles, dates and achievements belong in the supporting data room.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11557-5A35-4F15-AEBB-9967848E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7500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22+ years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7EC4B-CD32-43E1-8034-8D8F7DBA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Sreejith Valiyapurayil brings experience across semiconductor environments, enterprise IT, cloud and 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88AAF-FB44-46F7-96D7-C6A9DA20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531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Semiconductor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A9CE1-629C-4C48-BB83-2F38A122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31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The supplied deck describes 10 years at STMicroelectronics.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DE046-B559-4041-A2A4-22D2F002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0125"/>
            <a:ext cx="5314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Cloud and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6D699-16C2-405D-8BA7-E9E8D7D3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34000"/>
            <a:ext cx="531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The supplied deck describes 12 years across HCL, NetApp and FICO.</a:t>
            </a:r>
          </a:p>
        </p:txBody>
      </p:sp>
    </p:spTree>
    <p:extLst>
      <p:ext uri="{BB962C8B-B14F-4D97-AF65-F5344CB8AC3E}">
        <p14:creationId xmlns:p14="http://schemas.microsoft.com/office/powerpoint/2010/main" val="5463474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0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5E2F9-3689-4516-B38F-D0711DCC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8B430-DC0E-4BA6-919E-44926E5E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2B5C6-0ED4-4C70-B0E6-B44031CA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42321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142321"/>
                </a:solidFill>
                <a:latin typeface="DejaVu Sans"/>
                <a:ea typeface="DejaVu Sans"/>
                <a:cs typeface="DejaVu Sans"/>
              </a:rPr>
              <a:t>Risks and decision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1DA60-058B-409E-BEF9-3408120D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Controls are proposed work items, not certified capabilities.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6191250"/>
                <a:gridCol w="2066925"/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Response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2F4EE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142F2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EDA and PDK rights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Confirm permitted hosting and service scope before onboarding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Founder + EDA lead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IP security and AI data use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Isolated access, encryption, audit and customer-approved data policy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SRE / security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Weak unit economics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Measure support hours, margin and customer concentration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Founder + finance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Tool and cloud variability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Versioned validation matrix and workload benchmarks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 + EDA</a:t>
                      </a:r>
                    </a:p>
                  </a:txBody>
                  <a:tcPr marL="91440" marR="91440" marT="45720" marB="45720">
                    <a:solidFill>
                      <a:srgbClr val="F0F2E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Premature silicon / capex spend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Independent gates and separately financed programs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32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Board / investors</a:t>
                      </a:r>
                    </a:p>
                  </a:txBody>
                  <a:tcPr marL="91440" marR="91440" marT="45720" marB="45720">
                    <a:solidFill>
                      <a:srgbClr val="E4EBE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14989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1B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E1C7B-2249-4C8B-A3E8-399D21DB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3161B-E036-46E1-BE51-AE8BCE9A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DCEAA-E5ED-4DEA-BCA9-BA0C46C6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The next investment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09293-0F58-4154-8DAC-12854EBD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Illustrative capital envelope: ₹5.05 crore before revenue offsets. Final raise and terms remain to be determined.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40AD7-AA71-43B5-8DA2-6419E360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95375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B4E6C7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B4E6C7"/>
                </a:solidFill>
                <a:latin typeface="DejaVu Sans"/>
                <a:ea typeface="DejaVu Sans"/>
                <a:cs typeface="DejaVu Sans"/>
              </a:rPr>
              <a:t>Fund Phase 1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76C03-64AA-49B2-8E2C-2C1AD2DC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6572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2F4EE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2F4EE"/>
                </a:solidFill>
                <a:latin typeface="DejaVu Sans"/>
                <a:ea typeface="DejaVu Sans"/>
                <a:cs typeface="DejaVu Sans"/>
              </a:rPr>
              <a:t>Build the developer team, secure the permitted toolchain and convert pilot results into a repeatable managed service.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439DC-2019-4036-A6F8-DEDE3437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14750"/>
            <a:ext cx="34385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Immediate priorities</a:t>
            </a:r>
          </a:p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Licensing route and vendor quotes</a:t>
            </a:r>
          </a:p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Paid pilot agreements</a:t>
            </a:r>
          </a:p>
          <a:p xmlns:a="http://schemas.openxmlformats.org/drawingml/2006/main">
            <a:pPr>
              <a:def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B9C9C4"/>
                </a:solidFill>
                <a:latin typeface="DejaVu Sans"/>
                <a:ea typeface="DejaVu Sans"/>
                <a:cs typeface="DejaVu Sans"/>
              </a:rPr>
              <a:t>Approved 18-month operating budget</a:t>
            </a:r>
          </a:p>
        </p:txBody>
      </p:sp>
    </p:spTree>
    <p:extLst>
      <p:ext uri="{BB962C8B-B14F-4D97-AF65-F5344CB8AC3E}">
        <p14:creationId xmlns:p14="http://schemas.microsoft.com/office/powerpoint/2010/main" val="146892356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0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1036B-2079-4802-836E-6FA05358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INSILICON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9C219-A2D5-407B-8A11-6A2A5C60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27891-A5A4-4D26-89E9-C27A9329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42321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142321"/>
                </a:solidFill>
                <a:latin typeface="DejaVu Sans"/>
                <a:ea typeface="DejaVu Sans"/>
                <a:cs typeface="DejaVu Sans"/>
              </a:rPr>
              <a:t>Sources and planning basis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52DA2-1A12-4D75-9F38-9CA30B5A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Research checked 1 October 2026. Vendor references describe their products and do not imply a partnership with InSilicon.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E7EA0-E42E-4C72-A7DC-CDCEAB68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321"/>
                </a:solidFill>
                <a:latin typeface="DejaVu Sans"/>
                <a:ea typeface="DejaVu Sans"/>
                <a:cs typeface="DejaVu Sans"/>
              </a:rPr>
              <a:t>S1  Synopsys Cloud: licensing and managed EDA environments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01A39-086D-4E82-B80B-AA85DC96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14575"/>
            <a:ext cx="10506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Existing EDA cloud offerings and licensing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36008-FA25-4D5D-BB20-B9A7974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321"/>
                </a:solidFill>
                <a:latin typeface="DejaVu Sans"/>
                <a:ea typeface="DejaVu Sans"/>
                <a:cs typeface="DejaVu Sans"/>
              </a:rPr>
              <a:t>S2  Cadence: hybrid EDA workflow with NetApp on AWS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89453-6DBE-4B5D-AB0A-BCBAD297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895600"/>
            <a:ext cx="10506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Existing hybrid EDA infrastructure approach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48E1F-7757-4184-8C23-9519FAE2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321"/>
                </a:solidFill>
                <a:latin typeface="DejaVu Sans"/>
                <a:ea typeface="DejaVu Sans"/>
                <a:cs typeface="DejaVu Sans"/>
              </a:rPr>
              <a:t>S3  Argo CD official documentation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3DFFF-3820-49A9-AEE7-238850BF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76625"/>
            <a:ext cx="10506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GitOps deployment of Kubernetes applications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FBE7C-169D-4081-AF56-DF91A373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321"/>
                </a:solidFill>
                <a:latin typeface="DejaVu Sans"/>
                <a:ea typeface="DejaVu Sans"/>
                <a:cs typeface="DejaVu Sans"/>
              </a:rPr>
              <a:t>S4  Grokstream / Droma official website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BEE65-3CAA-4DF3-B312-376BB99A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57650"/>
            <a:ext cx="10506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Candidate AIOps capability, current Droma branding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F230A8-87FE-4949-B801-967AF040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42321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321"/>
                </a:solidFill>
                <a:latin typeface="DejaVu Sans"/>
                <a:ea typeface="DejaVu Sans"/>
                <a:cs typeface="DejaVu Sans"/>
              </a:rPr>
              <a:t>S5  Kubernetes official website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C03312-9093-433F-8581-FC827F63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638675"/>
            <a:ext cx="10506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Container orchestration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BEB8A-EBF4-46EB-BE4F-20C27A54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C625D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4C625D"/>
                </a:solidFill>
                <a:latin typeface="DejaVu Sans"/>
                <a:ea typeface="DejaVu Sans"/>
                <a:cs typeface="DejaVu Sans"/>
              </a:rPr>
              <a:t>Company basis: supplied 10-slide founder deck, existing InSilicon dashboard and roadmap confirmed on 1 October 2026. Financials, hiring and KPI targets are illustrative planning assumptions.</a:t>
            </a:r>
          </a:p>
        </p:txBody>
      </p:sp>
    </p:spTree>
    <p:extLst>
      <p:ext uri="{BB962C8B-B14F-4D97-AF65-F5344CB8AC3E}">
        <p14:creationId xmlns:p14="http://schemas.microsoft.com/office/powerpoint/2010/main" val="1325026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2026-10-01T07:46:48.3740000Z</dcterms:created>
  <dcterms:modified xsi:type="dcterms:W3CDTF">2026-10-01T07:46:48.3740000Z</dcterms:modified>
</coreProperties>
</file>